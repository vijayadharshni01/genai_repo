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Raleway"/>
      <p:regular r:id="rId17"/>
      <p:bold r:id="rId18"/>
      <p:italic r:id="rId19"/>
      <p:boldItalic r:id="rId20"/>
    </p:embeddedFont>
    <p:embeddedFont>
      <p:font typeface="Lato"/>
      <p:regular r:id="rId21"/>
      <p:bold r:id="rId22"/>
      <p:italic r:id="rId23"/>
      <p:boldItalic r:id="rId24"/>
    </p:embeddedFont>
    <p:embeddedFont>
      <p:font typeface="Roboto Mono"/>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boldItalic.fntdata"/><Relationship Id="rId22" Type="http://schemas.openxmlformats.org/officeDocument/2006/relationships/font" Target="fonts/Lato-bold.fntdata"/><Relationship Id="rId21" Type="http://schemas.openxmlformats.org/officeDocument/2006/relationships/font" Target="fonts/Lato-regular.fntdata"/><Relationship Id="rId24" Type="http://schemas.openxmlformats.org/officeDocument/2006/relationships/font" Target="fonts/Lato-boldItalic.fntdata"/><Relationship Id="rId23" Type="http://schemas.openxmlformats.org/officeDocument/2006/relationships/font" Target="fonts/La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Mono-bold.fntdata"/><Relationship Id="rId25" Type="http://schemas.openxmlformats.org/officeDocument/2006/relationships/font" Target="fonts/RobotoMono-regular.fntdata"/><Relationship Id="rId28" Type="http://schemas.openxmlformats.org/officeDocument/2006/relationships/font" Target="fonts/RobotoMono-boldItalic.fntdata"/><Relationship Id="rId27" Type="http://schemas.openxmlformats.org/officeDocument/2006/relationships/font" Target="fonts/RobotoMon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aleway-regular.fntdata"/><Relationship Id="rId16" Type="http://schemas.openxmlformats.org/officeDocument/2006/relationships/slide" Target="slides/slide11.xml"/><Relationship Id="rId19" Type="http://schemas.openxmlformats.org/officeDocument/2006/relationships/font" Target="fonts/Raleway-italic.fntdata"/><Relationship Id="rId18" Type="http://schemas.openxmlformats.org/officeDocument/2006/relationships/font" Target="fonts/Raleway-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aeec9235e8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aeec9235e8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aeec9235e8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aeec9235e8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aeec9235e8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aeec9235e8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aeec9235e8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aeec9235e8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aeec9235e8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aeec9235e8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aeec9235e8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aeec9235e8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aeec9235e8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aeec9235e8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b138d1490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b138d1490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b30e5475be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b30e5475b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b138d14909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b138d1490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Cross-Platform Migration Using LLMs</a:t>
            </a:r>
            <a:endParaRPr/>
          </a:p>
        </p:txBody>
      </p:sp>
      <p:sp>
        <p:nvSpPr>
          <p:cNvPr id="87" name="Google Shape;87;p13"/>
          <p:cNvSpPr txBox="1"/>
          <p:nvPr>
            <p:ph idx="1" type="subTitle"/>
          </p:nvPr>
        </p:nvSpPr>
        <p:spPr>
          <a:xfrm>
            <a:off x="729625" y="3172900"/>
            <a:ext cx="7688100" cy="1262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Generative AI Case Study</a:t>
            </a:r>
            <a:endParaRPr b="1"/>
          </a:p>
          <a:p>
            <a:pPr indent="0" lvl="0" marL="0" rtl="0" algn="l">
              <a:spcBef>
                <a:spcPts val="0"/>
              </a:spcBef>
              <a:spcAft>
                <a:spcPts val="0"/>
              </a:spcAft>
              <a:buNone/>
            </a:pPr>
            <a:r>
              <a:t/>
            </a:r>
            <a:endParaRPr/>
          </a:p>
          <a:p>
            <a:pPr indent="0" lvl="0" marL="0" rtl="0" algn="l">
              <a:spcBef>
                <a:spcPts val="0"/>
              </a:spcBef>
              <a:spcAft>
                <a:spcPts val="0"/>
              </a:spcAft>
              <a:buNone/>
            </a:pPr>
            <a:r>
              <a:rPr lang="en"/>
              <a:t>Done by Vijayadharshni</a:t>
            </a:r>
            <a:br>
              <a:rPr lang="en"/>
            </a:b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648675" y="1426350"/>
            <a:ext cx="7688700" cy="5352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2400"/>
              </a:spcBef>
              <a:spcAft>
                <a:spcPts val="0"/>
              </a:spcAft>
              <a:buNone/>
            </a:pPr>
            <a:r>
              <a:rPr lang="en" sz="2300">
                <a:solidFill>
                  <a:srgbClr val="000000"/>
                </a:solidFill>
                <a:latin typeface="Arial"/>
                <a:ea typeface="Arial"/>
                <a:cs typeface="Arial"/>
                <a:sym typeface="Arial"/>
              </a:rPr>
              <a:t>What is Generative AI?</a:t>
            </a:r>
            <a:endParaRPr sz="2300">
              <a:solidFill>
                <a:srgbClr val="000000"/>
              </a:solidFill>
              <a:latin typeface="Arial"/>
              <a:ea typeface="Arial"/>
              <a:cs typeface="Arial"/>
              <a:sym typeface="Arial"/>
            </a:endParaRPr>
          </a:p>
          <a:p>
            <a:pPr indent="0" lvl="0" marL="0" rtl="0" algn="l">
              <a:spcBef>
                <a:spcPts val="600"/>
              </a:spcBef>
              <a:spcAft>
                <a:spcPts val="0"/>
              </a:spcAft>
              <a:buNone/>
            </a:pPr>
            <a:r>
              <a:t/>
            </a:r>
            <a:endParaRPr/>
          </a:p>
        </p:txBody>
      </p:sp>
      <p:sp>
        <p:nvSpPr>
          <p:cNvPr id="93" name="Google Shape;93;p14"/>
          <p:cNvSpPr txBox="1"/>
          <p:nvPr>
            <p:ph idx="1" type="body"/>
          </p:nvPr>
        </p:nvSpPr>
        <p:spPr>
          <a:xfrm>
            <a:off x="473600" y="2130388"/>
            <a:ext cx="4714800" cy="2544900"/>
          </a:xfrm>
          <a:prstGeom prst="rect">
            <a:avLst/>
          </a:prstGeom>
        </p:spPr>
        <p:txBody>
          <a:bodyPr anchorCtr="0" anchor="t" bIns="91425" lIns="91425" spcFirstLastPara="1" rIns="91425" wrap="square" tIns="91425">
            <a:noAutofit/>
          </a:bodyPr>
          <a:lstStyle/>
          <a:p>
            <a:pPr indent="-317500" lvl="0" marL="457200" rtl="0" algn="just">
              <a:spcBef>
                <a:spcPts val="1200"/>
              </a:spcBef>
              <a:spcAft>
                <a:spcPts val="0"/>
              </a:spcAft>
              <a:buClr>
                <a:schemeClr val="dk2"/>
              </a:buClr>
              <a:buSzPts val="1400"/>
              <a:buFont typeface="Arial"/>
              <a:buChar char="●"/>
            </a:pPr>
            <a:r>
              <a:rPr lang="en" sz="1600">
                <a:solidFill>
                  <a:schemeClr val="dk2"/>
                </a:solidFill>
              </a:rPr>
              <a:t>Generative AI creates new content—text, images, code—by learning patterns from vast data.</a:t>
            </a:r>
            <a:endParaRPr sz="1600">
              <a:solidFill>
                <a:schemeClr val="dk2"/>
              </a:solidFill>
            </a:endParaRPr>
          </a:p>
          <a:p>
            <a:pPr indent="-317500" lvl="0" marL="457200" rtl="0" algn="just">
              <a:spcBef>
                <a:spcPts val="0"/>
              </a:spcBef>
              <a:spcAft>
                <a:spcPts val="0"/>
              </a:spcAft>
              <a:buClr>
                <a:schemeClr val="dk2"/>
              </a:buClr>
              <a:buSzPts val="1400"/>
              <a:buFont typeface="Arial"/>
              <a:buChar char="●"/>
            </a:pPr>
            <a:r>
              <a:rPr lang="en" sz="1600">
                <a:solidFill>
                  <a:schemeClr val="dk2"/>
                </a:solidFill>
              </a:rPr>
              <a:t>Examples: ChatGPT, DALL·E, and AI code assistants.</a:t>
            </a:r>
            <a:endParaRPr sz="1600">
              <a:solidFill>
                <a:schemeClr val="dk2"/>
              </a:solidFill>
            </a:endParaRPr>
          </a:p>
          <a:p>
            <a:pPr indent="-317500" lvl="0" marL="457200" rtl="0" algn="just">
              <a:spcBef>
                <a:spcPts val="0"/>
              </a:spcBef>
              <a:spcAft>
                <a:spcPts val="0"/>
              </a:spcAft>
              <a:buClr>
                <a:schemeClr val="dk2"/>
              </a:buClr>
              <a:buSzPts val="1400"/>
              <a:buFont typeface="Arial"/>
              <a:buChar char="●"/>
            </a:pPr>
            <a:r>
              <a:rPr lang="en" sz="1600">
                <a:solidFill>
                  <a:schemeClr val="dk2"/>
                </a:solidFill>
              </a:rPr>
              <a:t>It’s transforming industries by automating creative and complex tasks.</a:t>
            </a:r>
            <a:endParaRPr sz="900">
              <a:solidFill>
                <a:schemeClr val="dk2"/>
              </a:solidFill>
            </a:endParaRPr>
          </a:p>
        </p:txBody>
      </p:sp>
      <p:pic>
        <p:nvPicPr>
          <p:cNvPr id="94" name="Google Shape;94;p14"/>
          <p:cNvPicPr preferRelativeResize="0"/>
          <p:nvPr/>
        </p:nvPicPr>
        <p:blipFill rotWithShape="1">
          <a:blip r:embed="rId3">
            <a:alphaModFix/>
          </a:blip>
          <a:srcRect b="0" l="0" r="5285" t="0"/>
          <a:stretch/>
        </p:blipFill>
        <p:spPr>
          <a:xfrm>
            <a:off x="5538450" y="1961550"/>
            <a:ext cx="3231525" cy="28825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5"/>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p>
            <a:pPr indent="0" lvl="0" marL="0" rtl="0" algn="l">
              <a:lnSpc>
                <a:spcPct val="115000"/>
              </a:lnSpc>
              <a:spcBef>
                <a:spcPts val="2400"/>
              </a:spcBef>
              <a:spcAft>
                <a:spcPts val="600"/>
              </a:spcAft>
              <a:buNone/>
            </a:pPr>
            <a:r>
              <a:rPr lang="en" sz="2300">
                <a:solidFill>
                  <a:srgbClr val="000000"/>
                </a:solidFill>
                <a:latin typeface="Arial"/>
                <a:ea typeface="Arial"/>
                <a:cs typeface="Arial"/>
                <a:sym typeface="Arial"/>
              </a:rPr>
              <a:t>What is a Large Language Model (LLM) ?</a:t>
            </a:r>
            <a:endParaRPr/>
          </a:p>
        </p:txBody>
      </p:sp>
      <p:sp>
        <p:nvSpPr>
          <p:cNvPr id="100" name="Google Shape;100;p15"/>
          <p:cNvSpPr txBox="1"/>
          <p:nvPr>
            <p:ph idx="1" type="body"/>
          </p:nvPr>
        </p:nvSpPr>
        <p:spPr>
          <a:xfrm>
            <a:off x="487100" y="1947875"/>
            <a:ext cx="4084800" cy="3195600"/>
          </a:xfrm>
          <a:prstGeom prst="rect">
            <a:avLst/>
          </a:prstGeom>
        </p:spPr>
        <p:txBody>
          <a:bodyPr anchorCtr="0" anchor="t" bIns="91425" lIns="91425" spcFirstLastPara="1" rIns="91425" wrap="square" tIns="91425">
            <a:normAutofit fontScale="92500" lnSpcReduction="10000"/>
          </a:bodyPr>
          <a:lstStyle/>
          <a:p>
            <a:pPr indent="-310832" lvl="0" marL="457200" rtl="0" algn="just">
              <a:spcBef>
                <a:spcPts val="1200"/>
              </a:spcBef>
              <a:spcAft>
                <a:spcPts val="0"/>
              </a:spcAft>
              <a:buClr>
                <a:schemeClr val="dk2"/>
              </a:buClr>
              <a:buSzPct val="87500"/>
              <a:buFont typeface="Arial"/>
              <a:buChar char="●"/>
            </a:pPr>
            <a:r>
              <a:rPr lang="en" sz="1600">
                <a:solidFill>
                  <a:schemeClr val="dk2"/>
                </a:solidFill>
              </a:rPr>
              <a:t>LLMs are AI models trained on massive text datasets to understand and generate human-like language.</a:t>
            </a:r>
            <a:endParaRPr sz="1600">
              <a:solidFill>
                <a:schemeClr val="dk2"/>
              </a:solidFill>
            </a:endParaRPr>
          </a:p>
          <a:p>
            <a:pPr indent="-310832" lvl="0" marL="457200" rtl="0" algn="just">
              <a:spcBef>
                <a:spcPts val="0"/>
              </a:spcBef>
              <a:spcAft>
                <a:spcPts val="0"/>
              </a:spcAft>
              <a:buClr>
                <a:schemeClr val="dk2"/>
              </a:buClr>
              <a:buSzPct val="87500"/>
              <a:buFont typeface="Arial"/>
              <a:buChar char="●"/>
            </a:pPr>
            <a:r>
              <a:rPr lang="en" sz="1600">
                <a:solidFill>
                  <a:schemeClr val="dk2"/>
                </a:solidFill>
              </a:rPr>
              <a:t>They process input prompts by predicting the most likely next words, enabling coherent responses.</a:t>
            </a:r>
            <a:endParaRPr sz="1600">
              <a:solidFill>
                <a:schemeClr val="dk2"/>
              </a:solidFill>
            </a:endParaRPr>
          </a:p>
          <a:p>
            <a:pPr indent="-310832" lvl="0" marL="457200" rtl="0" algn="just">
              <a:spcBef>
                <a:spcPts val="0"/>
              </a:spcBef>
              <a:spcAft>
                <a:spcPts val="0"/>
              </a:spcAft>
              <a:buClr>
                <a:schemeClr val="dk2"/>
              </a:buClr>
              <a:buSzPct val="87500"/>
              <a:buFont typeface="Arial"/>
              <a:buChar char="●"/>
            </a:pPr>
            <a:r>
              <a:rPr lang="en" sz="1600">
                <a:solidFill>
                  <a:schemeClr val="dk2"/>
                </a:solidFill>
              </a:rPr>
              <a:t>Behind the scenes: tokenization, context windows, and deep neural networks.</a:t>
            </a:r>
            <a:endParaRPr sz="1600">
              <a:solidFill>
                <a:schemeClr val="dk2"/>
              </a:solidFill>
            </a:endParaRPr>
          </a:p>
          <a:p>
            <a:pPr indent="-310832" lvl="0" marL="457200" rtl="0" algn="just">
              <a:spcBef>
                <a:spcPts val="0"/>
              </a:spcBef>
              <a:spcAft>
                <a:spcPts val="0"/>
              </a:spcAft>
              <a:buClr>
                <a:schemeClr val="dk2"/>
              </a:buClr>
              <a:buSzPct val="87500"/>
              <a:buFont typeface="Arial"/>
              <a:buChar char="●"/>
            </a:pPr>
            <a:r>
              <a:rPr lang="en" sz="1600">
                <a:solidFill>
                  <a:schemeClr val="dk2"/>
                </a:solidFill>
              </a:rPr>
              <a:t>Examples: OpenAI’s GPT series, Meta’s LLaMA, and others powering chatbots and code generation.</a:t>
            </a:r>
            <a:endParaRPr sz="1600">
              <a:solidFill>
                <a:schemeClr val="dk2"/>
              </a:solidFill>
            </a:endParaRPr>
          </a:p>
          <a:p>
            <a:pPr indent="0" lvl="0" marL="0" rtl="0" algn="l">
              <a:spcBef>
                <a:spcPts val="1200"/>
              </a:spcBef>
              <a:spcAft>
                <a:spcPts val="1200"/>
              </a:spcAft>
              <a:buNone/>
            </a:pPr>
            <a:r>
              <a:t/>
            </a:r>
            <a:endParaRPr/>
          </a:p>
        </p:txBody>
      </p:sp>
      <p:pic>
        <p:nvPicPr>
          <p:cNvPr id="101" name="Google Shape;101;p15"/>
          <p:cNvPicPr preferRelativeResize="0"/>
          <p:nvPr/>
        </p:nvPicPr>
        <p:blipFill>
          <a:blip r:embed="rId3">
            <a:alphaModFix/>
          </a:blip>
          <a:stretch>
            <a:fillRect/>
          </a:stretch>
        </p:blipFill>
        <p:spPr>
          <a:xfrm>
            <a:off x="4775300" y="1947875"/>
            <a:ext cx="4262881" cy="298484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2400"/>
              </a:spcBef>
              <a:spcAft>
                <a:spcPts val="0"/>
              </a:spcAft>
              <a:buNone/>
            </a:pPr>
            <a:r>
              <a:rPr lang="en" sz="2300">
                <a:solidFill>
                  <a:srgbClr val="000000"/>
                </a:solidFill>
                <a:latin typeface="Arial"/>
                <a:ea typeface="Arial"/>
                <a:cs typeface="Arial"/>
                <a:sym typeface="Arial"/>
              </a:rPr>
              <a:t>Learnings from Exploring Generative AI</a:t>
            </a:r>
            <a:endParaRPr sz="2300">
              <a:solidFill>
                <a:srgbClr val="000000"/>
              </a:solidFill>
              <a:latin typeface="Arial"/>
              <a:ea typeface="Arial"/>
              <a:cs typeface="Arial"/>
              <a:sym typeface="Arial"/>
            </a:endParaRPr>
          </a:p>
          <a:p>
            <a:pPr indent="0" lvl="0" marL="457200" rtl="0" algn="l">
              <a:lnSpc>
                <a:spcPct val="115000"/>
              </a:lnSpc>
              <a:spcBef>
                <a:spcPts val="1200"/>
              </a:spcBef>
              <a:spcAft>
                <a:spcPts val="0"/>
              </a:spcAft>
              <a:buNone/>
            </a:pPr>
            <a:r>
              <a:t/>
            </a:r>
            <a:endParaRPr b="0" sz="1100">
              <a:solidFill>
                <a:srgbClr val="000000"/>
              </a:solidFill>
              <a:latin typeface="Arial"/>
              <a:ea typeface="Arial"/>
              <a:cs typeface="Arial"/>
              <a:sym typeface="Arial"/>
            </a:endParaRPr>
          </a:p>
          <a:p>
            <a:pPr indent="0" lvl="0" marL="0" rtl="0" algn="l">
              <a:lnSpc>
                <a:spcPct val="115000"/>
              </a:lnSpc>
              <a:spcBef>
                <a:spcPts val="2400"/>
              </a:spcBef>
              <a:spcAft>
                <a:spcPts val="0"/>
              </a:spcAft>
              <a:buNone/>
            </a:pPr>
            <a:r>
              <a:t/>
            </a:r>
            <a:endParaRPr sz="2300">
              <a:solidFill>
                <a:srgbClr val="000000"/>
              </a:solidFill>
              <a:latin typeface="Arial"/>
              <a:ea typeface="Arial"/>
              <a:cs typeface="Arial"/>
              <a:sym typeface="Arial"/>
            </a:endParaRPr>
          </a:p>
          <a:p>
            <a:pPr indent="0" lvl="0" marL="0" rtl="0" algn="l">
              <a:spcBef>
                <a:spcPts val="600"/>
              </a:spcBef>
              <a:spcAft>
                <a:spcPts val="0"/>
              </a:spcAft>
              <a:buNone/>
            </a:pPr>
            <a:r>
              <a:t/>
            </a:r>
            <a:endParaRPr/>
          </a:p>
        </p:txBody>
      </p:sp>
      <p:sp>
        <p:nvSpPr>
          <p:cNvPr id="107" name="Google Shape;107;p1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42900" lvl="0" marL="457200" rtl="0" algn="just">
              <a:spcBef>
                <a:spcPts val="1200"/>
              </a:spcBef>
              <a:spcAft>
                <a:spcPts val="0"/>
              </a:spcAft>
              <a:buClr>
                <a:schemeClr val="dk2"/>
              </a:buClr>
              <a:buSzPts val="1800"/>
              <a:buFont typeface="Arial"/>
              <a:buChar char="●"/>
            </a:pPr>
            <a:r>
              <a:rPr lang="en" sz="2000">
                <a:solidFill>
                  <a:schemeClr val="dk2"/>
                </a:solidFill>
              </a:rPr>
              <a:t>Understanding AI’s limitations and human oversight remains essential.</a:t>
            </a:r>
            <a:endParaRPr sz="2000">
              <a:solidFill>
                <a:schemeClr val="dk2"/>
              </a:solidFill>
            </a:endParaRPr>
          </a:p>
          <a:p>
            <a:pPr indent="-342900" lvl="0" marL="457200" rtl="0" algn="just">
              <a:spcBef>
                <a:spcPts val="0"/>
              </a:spcBef>
              <a:spcAft>
                <a:spcPts val="0"/>
              </a:spcAft>
              <a:buClr>
                <a:schemeClr val="dk2"/>
              </a:buClr>
              <a:buSzPts val="1800"/>
              <a:buFont typeface="Arial"/>
              <a:buChar char="●"/>
            </a:pPr>
            <a:r>
              <a:rPr lang="en" sz="2000">
                <a:solidFill>
                  <a:schemeClr val="dk2"/>
                </a:solidFill>
              </a:rPr>
              <a:t>Basics of GenAI, LLMs, embeddings, vector stores, and prompting.</a:t>
            </a:r>
            <a:endParaRPr sz="2000">
              <a:solidFill>
                <a:schemeClr val="dk2"/>
              </a:solidFill>
            </a:endParaRPr>
          </a:p>
          <a:p>
            <a:pPr indent="-342900" lvl="0" marL="457200" rtl="0" algn="just">
              <a:spcBef>
                <a:spcPts val="0"/>
              </a:spcBef>
              <a:spcAft>
                <a:spcPts val="0"/>
              </a:spcAft>
              <a:buClr>
                <a:schemeClr val="dk2"/>
              </a:buClr>
              <a:buSzPts val="1800"/>
              <a:buFont typeface="Arial"/>
              <a:buChar char="●"/>
            </a:pPr>
            <a:r>
              <a:rPr lang="en" sz="2000">
                <a:solidFill>
                  <a:schemeClr val="dk2"/>
                </a:solidFill>
              </a:rPr>
              <a:t>Understanding prompt engineering, RAG.</a:t>
            </a:r>
            <a:endParaRPr sz="2000">
              <a:solidFill>
                <a:schemeClr val="dk2"/>
              </a:solidFill>
            </a:endParaRPr>
          </a:p>
          <a:p>
            <a:pPr indent="-342900" lvl="0" marL="457200" rtl="0" algn="just">
              <a:spcBef>
                <a:spcPts val="0"/>
              </a:spcBef>
              <a:spcAft>
                <a:spcPts val="0"/>
              </a:spcAft>
              <a:buClr>
                <a:schemeClr val="dk2"/>
              </a:buClr>
              <a:buSzPts val="1800"/>
              <a:buFont typeface="Arial"/>
              <a:buChar char="●"/>
            </a:pPr>
            <a:r>
              <a:rPr lang="en" sz="2000">
                <a:solidFill>
                  <a:schemeClr val="dk2"/>
                </a:solidFill>
              </a:rPr>
              <a:t>Tools such as LangChain for automation.</a:t>
            </a:r>
            <a:endParaRPr sz="2000">
              <a:solidFill>
                <a:schemeClr val="dk2"/>
              </a:solidFill>
            </a:endParaRPr>
          </a:p>
          <a:p>
            <a:pPr indent="0" lvl="0" marL="0" rtl="0" algn="l">
              <a:spcBef>
                <a:spcPts val="1200"/>
              </a:spcBef>
              <a:spcAft>
                <a:spcPts val="1200"/>
              </a:spcAft>
              <a:buNone/>
            </a:pPr>
            <a:r>
              <a:t/>
            </a:r>
            <a:endParaRPr sz="2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2400"/>
              </a:spcBef>
              <a:spcAft>
                <a:spcPts val="0"/>
              </a:spcAft>
              <a:buNone/>
            </a:pPr>
            <a:r>
              <a:rPr lang="en" sz="2300">
                <a:solidFill>
                  <a:srgbClr val="000000"/>
                </a:solidFill>
                <a:latin typeface="Arial"/>
                <a:ea typeface="Arial"/>
                <a:cs typeface="Arial"/>
                <a:sym typeface="Arial"/>
              </a:rPr>
              <a:t>Case Study Overview: Migrating a .NET Core Application to Spring Boot Java Using LLMs</a:t>
            </a:r>
            <a:endParaRPr sz="2300">
              <a:solidFill>
                <a:srgbClr val="000000"/>
              </a:solidFill>
              <a:latin typeface="Arial"/>
              <a:ea typeface="Arial"/>
              <a:cs typeface="Arial"/>
              <a:sym typeface="Arial"/>
            </a:endParaRPr>
          </a:p>
          <a:p>
            <a:pPr indent="0" lvl="0" marL="0" rtl="0" algn="l">
              <a:spcBef>
                <a:spcPts val="600"/>
              </a:spcBef>
              <a:spcAft>
                <a:spcPts val="0"/>
              </a:spcAft>
              <a:buNone/>
            </a:pPr>
            <a:r>
              <a:t/>
            </a:r>
            <a:endParaRPr/>
          </a:p>
        </p:txBody>
      </p:sp>
      <p:sp>
        <p:nvSpPr>
          <p:cNvPr id="113" name="Google Shape;113;p17"/>
          <p:cNvSpPr txBox="1"/>
          <p:nvPr>
            <p:ph idx="1" type="body"/>
          </p:nvPr>
        </p:nvSpPr>
        <p:spPr>
          <a:xfrm>
            <a:off x="729450" y="2571750"/>
            <a:ext cx="7688700" cy="2325000"/>
          </a:xfrm>
          <a:prstGeom prst="rect">
            <a:avLst/>
          </a:prstGeom>
        </p:spPr>
        <p:txBody>
          <a:bodyPr anchorCtr="0" anchor="t" bIns="91425" lIns="91425" spcFirstLastPara="1" rIns="91425" wrap="square" tIns="91425">
            <a:normAutofit lnSpcReduction="20000"/>
          </a:bodyPr>
          <a:lstStyle/>
          <a:p>
            <a:pPr indent="0" lvl="0" marL="0" rtl="0" algn="just">
              <a:spcBef>
                <a:spcPts val="1200"/>
              </a:spcBef>
              <a:spcAft>
                <a:spcPts val="0"/>
              </a:spcAft>
              <a:buNone/>
            </a:pPr>
            <a:r>
              <a:rPr b="1" lang="en" sz="1900">
                <a:solidFill>
                  <a:srgbClr val="000000"/>
                </a:solidFill>
                <a:latin typeface="Arial"/>
                <a:ea typeface="Arial"/>
                <a:cs typeface="Arial"/>
                <a:sym typeface="Arial"/>
              </a:rPr>
              <a:t>The case study focuses on using Large Language Models (LLMs) to migrate an existing .NET Core Web API project to a Java Spring Boot project.</a:t>
            </a:r>
            <a:r>
              <a:rPr lang="en" sz="1900">
                <a:solidFill>
                  <a:srgbClr val="000000"/>
                </a:solidFill>
                <a:latin typeface="Arial"/>
                <a:ea typeface="Arial"/>
                <a:cs typeface="Arial"/>
                <a:sym typeface="Arial"/>
              </a:rPr>
              <a:t> The goal is to automate cross-platform code conversion using AI by translating controllers, services, repositories, models, and configurations from C# (.NET) into equivalent Java (Spring Boot) code with minimal manual effort.</a:t>
            </a:r>
            <a:endParaRPr sz="19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2400"/>
              </a:spcBef>
              <a:spcAft>
                <a:spcPts val="0"/>
              </a:spcAft>
              <a:buNone/>
            </a:pPr>
            <a:r>
              <a:rPr lang="en" sz="2300">
                <a:solidFill>
                  <a:srgbClr val="000000"/>
                </a:solidFill>
                <a:latin typeface="Arial"/>
                <a:ea typeface="Arial"/>
                <a:cs typeface="Arial"/>
                <a:sym typeface="Arial"/>
              </a:rPr>
              <a:t>Project Flow: From .NET Core to Spring Boot Using LLM</a:t>
            </a:r>
            <a:endParaRPr sz="2300">
              <a:solidFill>
                <a:srgbClr val="000000"/>
              </a:solidFill>
              <a:latin typeface="Arial"/>
              <a:ea typeface="Arial"/>
              <a:cs typeface="Arial"/>
              <a:sym typeface="Arial"/>
            </a:endParaRPr>
          </a:p>
          <a:p>
            <a:pPr indent="0" lvl="0" marL="0" rtl="0" algn="l">
              <a:spcBef>
                <a:spcPts val="600"/>
              </a:spcBef>
              <a:spcAft>
                <a:spcPts val="0"/>
              </a:spcAft>
              <a:buNone/>
            </a:pPr>
            <a:r>
              <a:t/>
            </a:r>
            <a:endParaRPr/>
          </a:p>
        </p:txBody>
      </p:sp>
      <p:sp>
        <p:nvSpPr>
          <p:cNvPr id="119" name="Google Shape;119;p18"/>
          <p:cNvSpPr txBox="1"/>
          <p:nvPr>
            <p:ph idx="1" type="body"/>
          </p:nvPr>
        </p:nvSpPr>
        <p:spPr>
          <a:xfrm>
            <a:off x="729450" y="1853850"/>
            <a:ext cx="7688700" cy="29928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None/>
            </a:pPr>
            <a:r>
              <a:rPr b="1" lang="en">
                <a:solidFill>
                  <a:srgbClr val="000000"/>
                </a:solidFill>
                <a:latin typeface="Arial"/>
                <a:ea typeface="Arial"/>
                <a:cs typeface="Arial"/>
                <a:sym typeface="Arial"/>
              </a:rPr>
              <a:t> 1. Input Folder Received</a:t>
            </a:r>
            <a:endParaRPr b="1">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.NET Core project (~20 files)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Contains: Controllers, Services, Repositories, Models, DTOs</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a:solidFill>
                  <a:srgbClr val="000000"/>
                </a:solidFill>
                <a:latin typeface="Arial"/>
                <a:ea typeface="Arial"/>
                <a:cs typeface="Arial"/>
                <a:sym typeface="Arial"/>
              </a:rPr>
              <a:t>2. File Classification</a:t>
            </a:r>
            <a:endParaRPr b="1">
              <a:solidFill>
                <a:srgbClr val="000000"/>
              </a:solidFill>
              <a:latin typeface="Arial"/>
              <a:ea typeface="Arial"/>
              <a:cs typeface="Arial"/>
              <a:sym typeface="Arial"/>
            </a:endParaRPr>
          </a:p>
          <a:p>
            <a:pPr indent="0" lvl="0" marL="457200" rtl="0" algn="l">
              <a:spcBef>
                <a:spcPts val="1200"/>
              </a:spcBef>
              <a:spcAft>
                <a:spcPts val="0"/>
              </a:spcAft>
              <a:buNone/>
            </a:pPr>
            <a:r>
              <a:rPr lang="en" sz="1100">
                <a:solidFill>
                  <a:srgbClr val="000000"/>
                </a:solidFill>
                <a:latin typeface="Arial"/>
                <a:ea typeface="Arial"/>
                <a:cs typeface="Arial"/>
                <a:sym typeface="Arial"/>
              </a:rPr>
              <a:t>Identify each file using:</a:t>
            </a:r>
            <a:endParaRPr sz="1100">
              <a:solidFill>
                <a:srgbClr val="000000"/>
              </a:solidFill>
              <a:latin typeface="Arial"/>
              <a:ea typeface="Arial"/>
              <a:cs typeface="Arial"/>
              <a:sym typeface="Arial"/>
            </a:endParaRPr>
          </a:p>
          <a:p>
            <a:pPr indent="-298450" lvl="1" marL="914400" rtl="0" algn="l">
              <a:spcBef>
                <a:spcPts val="1200"/>
              </a:spcBef>
              <a:spcAft>
                <a:spcPts val="0"/>
              </a:spcAft>
              <a:buClr>
                <a:srgbClr val="000000"/>
              </a:buClr>
              <a:buSzPts val="1100"/>
              <a:buFont typeface="Arial"/>
              <a:buChar char="○"/>
            </a:pPr>
            <a:r>
              <a:rPr lang="en">
                <a:solidFill>
                  <a:srgbClr val="000000"/>
                </a:solidFill>
                <a:latin typeface="Arial"/>
                <a:ea typeface="Arial"/>
                <a:cs typeface="Arial"/>
                <a:sym typeface="Arial"/>
              </a:rPr>
              <a:t>Naming conventions (e.g., *Controller.cs)</a:t>
            </a:r>
            <a:br>
              <a:rPr lang="en">
                <a:solidFill>
                  <a:srgbClr val="000000"/>
                </a:solidFill>
                <a:latin typeface="Arial"/>
                <a:ea typeface="Arial"/>
                <a:cs typeface="Arial"/>
                <a:sym typeface="Arial"/>
              </a:rPr>
            </a:br>
            <a:endParaRPr>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a:solidFill>
                  <a:srgbClr val="000000"/>
                </a:solidFill>
                <a:latin typeface="Arial"/>
                <a:ea typeface="Arial"/>
                <a:cs typeface="Arial"/>
                <a:sym typeface="Arial"/>
              </a:rPr>
              <a:t>Folder structure</a:t>
            </a:r>
            <a:br>
              <a:rPr lang="en">
                <a:solidFill>
                  <a:srgbClr val="000000"/>
                </a:solidFill>
                <a:latin typeface="Arial"/>
                <a:ea typeface="Arial"/>
                <a:cs typeface="Arial"/>
                <a:sym typeface="Arial"/>
              </a:rPr>
            </a:br>
            <a:endParaRPr>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a:solidFill>
                  <a:srgbClr val="000000"/>
                </a:solidFill>
                <a:latin typeface="Arial"/>
                <a:ea typeface="Arial"/>
                <a:cs typeface="Arial"/>
                <a:sym typeface="Arial"/>
              </a:rPr>
              <a:t>Class attributes/inheritance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9"/>
          <p:cNvSpPr txBox="1"/>
          <p:nvPr>
            <p:ph idx="1" type="body"/>
          </p:nvPr>
        </p:nvSpPr>
        <p:spPr>
          <a:xfrm>
            <a:off x="729450" y="1301575"/>
            <a:ext cx="3637500" cy="3662400"/>
          </a:xfrm>
          <a:prstGeom prst="rect">
            <a:avLst/>
          </a:prstGeom>
        </p:spPr>
        <p:txBody>
          <a:bodyPr anchorCtr="0" anchor="t" bIns="91425" lIns="91425" spcFirstLastPara="1" rIns="91425" wrap="square" tIns="91425">
            <a:noAutofit/>
          </a:bodyPr>
          <a:lstStyle/>
          <a:p>
            <a:pPr indent="0" lvl="0" marL="0" rtl="0" algn="l">
              <a:lnSpc>
                <a:spcPct val="95000"/>
              </a:lnSpc>
              <a:spcBef>
                <a:spcPts val="1400"/>
              </a:spcBef>
              <a:spcAft>
                <a:spcPts val="0"/>
              </a:spcAft>
              <a:buSzPts val="935"/>
              <a:buNone/>
            </a:pPr>
            <a:r>
              <a:rPr b="1" lang="en" sz="1105">
                <a:solidFill>
                  <a:srgbClr val="000000"/>
                </a:solidFill>
                <a:latin typeface="Arial"/>
                <a:ea typeface="Arial"/>
                <a:cs typeface="Arial"/>
                <a:sym typeface="Arial"/>
              </a:rPr>
              <a:t>3</a:t>
            </a:r>
            <a:r>
              <a:rPr b="1" lang="en" sz="1105">
                <a:solidFill>
                  <a:schemeClr val="dk2"/>
                </a:solidFill>
                <a:latin typeface="Arial"/>
                <a:ea typeface="Arial"/>
                <a:cs typeface="Arial"/>
                <a:sym typeface="Arial"/>
              </a:rPr>
              <a:t>. LLM-Based Con</a:t>
            </a:r>
            <a:r>
              <a:rPr b="1" lang="en" sz="1105">
                <a:solidFill>
                  <a:schemeClr val="dk2"/>
                </a:solidFill>
                <a:latin typeface="Arial"/>
                <a:ea typeface="Arial"/>
                <a:cs typeface="Arial"/>
                <a:sym typeface="Arial"/>
              </a:rPr>
              <a:t>v</a:t>
            </a:r>
            <a:r>
              <a:rPr b="1" lang="en" sz="1105">
                <a:solidFill>
                  <a:schemeClr val="dk2"/>
                </a:solidFill>
                <a:latin typeface="Arial"/>
                <a:ea typeface="Arial"/>
                <a:cs typeface="Arial"/>
                <a:sym typeface="Arial"/>
              </a:rPr>
              <a:t>ersion </a:t>
            </a:r>
            <a:endParaRPr b="1" sz="1105">
              <a:solidFill>
                <a:schemeClr val="dk2"/>
              </a:solidFill>
              <a:latin typeface="Arial"/>
              <a:ea typeface="Arial"/>
              <a:cs typeface="Arial"/>
              <a:sym typeface="Arial"/>
            </a:endParaRPr>
          </a:p>
          <a:p>
            <a:pPr indent="-287972" lvl="0" marL="457200" rtl="0" algn="l">
              <a:lnSpc>
                <a:spcPct val="95000"/>
              </a:lnSpc>
              <a:spcBef>
                <a:spcPts val="1200"/>
              </a:spcBef>
              <a:spcAft>
                <a:spcPts val="0"/>
              </a:spcAft>
              <a:buClr>
                <a:schemeClr val="dk2"/>
              </a:buClr>
              <a:buSzPts val="935"/>
              <a:buFont typeface="Arial"/>
              <a:buChar char="●"/>
            </a:pPr>
            <a:r>
              <a:rPr b="1" lang="en" sz="935">
                <a:solidFill>
                  <a:schemeClr val="dk2"/>
                </a:solidFill>
                <a:latin typeface="Arial"/>
                <a:ea typeface="Arial"/>
                <a:cs typeface="Arial"/>
                <a:sym typeface="Arial"/>
              </a:rPr>
              <a:t>Controller Prompt →</a:t>
            </a:r>
            <a:r>
              <a:rPr lang="en" sz="935">
                <a:solidFill>
                  <a:schemeClr val="dk2"/>
                </a:solidFill>
                <a:latin typeface="Arial"/>
                <a:ea typeface="Arial"/>
                <a:cs typeface="Arial"/>
                <a:sym typeface="Arial"/>
              </a:rPr>
              <a:t> Spring Boot </a:t>
            </a:r>
            <a:r>
              <a:rPr lang="en" sz="935">
                <a:solidFill>
                  <a:schemeClr val="dk2"/>
                </a:solidFill>
                <a:latin typeface="Roboto Mono"/>
                <a:ea typeface="Roboto Mono"/>
                <a:cs typeface="Roboto Mono"/>
                <a:sym typeface="Roboto Mono"/>
              </a:rPr>
              <a:t>@RestController</a:t>
            </a:r>
            <a:br>
              <a:rPr lang="en" sz="935">
                <a:solidFill>
                  <a:schemeClr val="dk2"/>
                </a:solidFill>
                <a:latin typeface="Roboto Mono"/>
                <a:ea typeface="Roboto Mono"/>
                <a:cs typeface="Roboto Mono"/>
                <a:sym typeface="Roboto Mono"/>
              </a:rPr>
            </a:br>
            <a:endParaRPr sz="935">
              <a:solidFill>
                <a:schemeClr val="dk2"/>
              </a:solidFill>
              <a:latin typeface="Roboto Mono"/>
              <a:ea typeface="Roboto Mono"/>
              <a:cs typeface="Roboto Mono"/>
              <a:sym typeface="Roboto Mono"/>
            </a:endParaRPr>
          </a:p>
          <a:p>
            <a:pPr indent="-287972" lvl="0" marL="457200" rtl="0" algn="l">
              <a:lnSpc>
                <a:spcPct val="95000"/>
              </a:lnSpc>
              <a:spcBef>
                <a:spcPts val="0"/>
              </a:spcBef>
              <a:spcAft>
                <a:spcPts val="0"/>
              </a:spcAft>
              <a:buClr>
                <a:schemeClr val="dk2"/>
              </a:buClr>
              <a:buSzPts val="935"/>
              <a:buFont typeface="Arial"/>
              <a:buChar char="●"/>
            </a:pPr>
            <a:r>
              <a:rPr b="1" lang="en" sz="935">
                <a:solidFill>
                  <a:schemeClr val="dk2"/>
                </a:solidFill>
                <a:latin typeface="Arial"/>
                <a:ea typeface="Arial"/>
                <a:cs typeface="Arial"/>
                <a:sym typeface="Arial"/>
              </a:rPr>
              <a:t>Service Prompt →</a:t>
            </a:r>
            <a:r>
              <a:rPr lang="en" sz="935">
                <a:solidFill>
                  <a:schemeClr val="dk2"/>
                </a:solidFill>
                <a:latin typeface="Arial"/>
                <a:ea typeface="Arial"/>
                <a:cs typeface="Arial"/>
                <a:sym typeface="Arial"/>
              </a:rPr>
              <a:t> Spring </a:t>
            </a:r>
            <a:r>
              <a:rPr lang="en" sz="935">
                <a:solidFill>
                  <a:schemeClr val="dk2"/>
                </a:solidFill>
                <a:latin typeface="Roboto Mono"/>
                <a:ea typeface="Roboto Mono"/>
                <a:cs typeface="Roboto Mono"/>
                <a:sym typeface="Roboto Mono"/>
              </a:rPr>
              <a:t>@Service</a:t>
            </a:r>
            <a:br>
              <a:rPr lang="en" sz="935">
                <a:solidFill>
                  <a:schemeClr val="dk2"/>
                </a:solidFill>
                <a:latin typeface="Roboto Mono"/>
                <a:ea typeface="Roboto Mono"/>
                <a:cs typeface="Roboto Mono"/>
                <a:sym typeface="Roboto Mono"/>
              </a:rPr>
            </a:br>
            <a:endParaRPr sz="935">
              <a:solidFill>
                <a:schemeClr val="dk2"/>
              </a:solidFill>
              <a:latin typeface="Roboto Mono"/>
              <a:ea typeface="Roboto Mono"/>
              <a:cs typeface="Roboto Mono"/>
              <a:sym typeface="Roboto Mono"/>
            </a:endParaRPr>
          </a:p>
          <a:p>
            <a:pPr indent="-287972" lvl="0" marL="457200" rtl="0" algn="l">
              <a:lnSpc>
                <a:spcPct val="95000"/>
              </a:lnSpc>
              <a:spcBef>
                <a:spcPts val="0"/>
              </a:spcBef>
              <a:spcAft>
                <a:spcPts val="0"/>
              </a:spcAft>
              <a:buClr>
                <a:schemeClr val="dk2"/>
              </a:buClr>
              <a:buSzPts val="935"/>
              <a:buFont typeface="Arial"/>
              <a:buChar char="●"/>
            </a:pPr>
            <a:r>
              <a:rPr b="1" lang="en" sz="935">
                <a:solidFill>
                  <a:schemeClr val="dk2"/>
                </a:solidFill>
                <a:latin typeface="Arial"/>
                <a:ea typeface="Arial"/>
                <a:cs typeface="Arial"/>
                <a:sym typeface="Arial"/>
              </a:rPr>
              <a:t>Repository Prompt →</a:t>
            </a:r>
            <a:r>
              <a:rPr lang="en" sz="935">
                <a:solidFill>
                  <a:schemeClr val="dk2"/>
                </a:solidFill>
                <a:latin typeface="Arial"/>
                <a:ea typeface="Arial"/>
                <a:cs typeface="Arial"/>
                <a:sym typeface="Arial"/>
              </a:rPr>
              <a:t> JPA Repository</a:t>
            </a:r>
            <a:br>
              <a:rPr lang="en" sz="935">
                <a:solidFill>
                  <a:schemeClr val="dk2"/>
                </a:solidFill>
                <a:latin typeface="Arial"/>
                <a:ea typeface="Arial"/>
                <a:cs typeface="Arial"/>
                <a:sym typeface="Arial"/>
              </a:rPr>
            </a:br>
            <a:endParaRPr sz="935">
              <a:solidFill>
                <a:schemeClr val="dk2"/>
              </a:solidFill>
              <a:latin typeface="Arial"/>
              <a:ea typeface="Arial"/>
              <a:cs typeface="Arial"/>
              <a:sym typeface="Arial"/>
            </a:endParaRPr>
          </a:p>
          <a:p>
            <a:pPr indent="-287972" lvl="0" marL="457200" rtl="0" algn="l">
              <a:lnSpc>
                <a:spcPct val="95000"/>
              </a:lnSpc>
              <a:spcBef>
                <a:spcPts val="0"/>
              </a:spcBef>
              <a:spcAft>
                <a:spcPts val="0"/>
              </a:spcAft>
              <a:buClr>
                <a:schemeClr val="dk2"/>
              </a:buClr>
              <a:buSzPts val="935"/>
              <a:buFont typeface="Arial"/>
              <a:buChar char="●"/>
            </a:pPr>
            <a:r>
              <a:rPr b="1" lang="en" sz="935">
                <a:solidFill>
                  <a:schemeClr val="dk2"/>
                </a:solidFill>
                <a:latin typeface="Arial"/>
                <a:ea typeface="Arial"/>
                <a:cs typeface="Arial"/>
                <a:sym typeface="Arial"/>
              </a:rPr>
              <a:t>Model Prompt →</a:t>
            </a:r>
            <a:r>
              <a:rPr lang="en" sz="935">
                <a:solidFill>
                  <a:schemeClr val="dk2"/>
                </a:solidFill>
                <a:latin typeface="Arial"/>
                <a:ea typeface="Arial"/>
                <a:cs typeface="Arial"/>
                <a:sym typeface="Arial"/>
              </a:rPr>
              <a:t> JPA </a:t>
            </a:r>
            <a:r>
              <a:rPr lang="en" sz="935">
                <a:solidFill>
                  <a:schemeClr val="dk2"/>
                </a:solidFill>
                <a:latin typeface="Roboto Mono"/>
                <a:ea typeface="Roboto Mono"/>
                <a:cs typeface="Roboto Mono"/>
                <a:sym typeface="Roboto Mono"/>
              </a:rPr>
              <a:t>@Entity</a:t>
            </a:r>
            <a:br>
              <a:rPr lang="en" sz="935">
                <a:solidFill>
                  <a:schemeClr val="dk2"/>
                </a:solidFill>
                <a:latin typeface="Roboto Mono"/>
                <a:ea typeface="Roboto Mono"/>
                <a:cs typeface="Roboto Mono"/>
                <a:sym typeface="Roboto Mono"/>
              </a:rPr>
            </a:br>
            <a:endParaRPr sz="935">
              <a:solidFill>
                <a:schemeClr val="dk2"/>
              </a:solidFill>
              <a:latin typeface="Roboto Mono"/>
              <a:ea typeface="Roboto Mono"/>
              <a:cs typeface="Roboto Mono"/>
              <a:sym typeface="Roboto Mono"/>
            </a:endParaRPr>
          </a:p>
          <a:p>
            <a:pPr indent="-287972" lvl="0" marL="457200" rtl="0" algn="l">
              <a:lnSpc>
                <a:spcPct val="95000"/>
              </a:lnSpc>
              <a:spcBef>
                <a:spcPts val="0"/>
              </a:spcBef>
              <a:spcAft>
                <a:spcPts val="0"/>
              </a:spcAft>
              <a:buClr>
                <a:schemeClr val="dk2"/>
              </a:buClr>
              <a:buSzPts val="935"/>
              <a:buFont typeface="Arial"/>
              <a:buChar char="●"/>
            </a:pPr>
            <a:r>
              <a:rPr lang="en" sz="935">
                <a:solidFill>
                  <a:schemeClr val="dk2"/>
                </a:solidFill>
                <a:latin typeface="Arial"/>
                <a:ea typeface="Arial"/>
                <a:cs typeface="Arial"/>
                <a:sym typeface="Arial"/>
              </a:rPr>
              <a:t>Files processed </a:t>
            </a:r>
            <a:r>
              <a:rPr b="1" lang="en" sz="935">
                <a:solidFill>
                  <a:schemeClr val="dk2"/>
                </a:solidFill>
                <a:latin typeface="Arial"/>
                <a:ea typeface="Arial"/>
                <a:cs typeface="Arial"/>
                <a:sym typeface="Arial"/>
              </a:rPr>
              <a:t>one-by-one</a:t>
            </a:r>
            <a:r>
              <a:rPr lang="en" sz="935">
                <a:solidFill>
                  <a:schemeClr val="dk2"/>
                </a:solidFill>
                <a:latin typeface="Arial"/>
                <a:ea typeface="Arial"/>
                <a:cs typeface="Arial"/>
                <a:sym typeface="Arial"/>
              </a:rPr>
              <a:t> due to LLM token limits</a:t>
            </a:r>
            <a:endParaRPr sz="935">
              <a:solidFill>
                <a:schemeClr val="dk2"/>
              </a:solidFill>
              <a:latin typeface="Arial"/>
              <a:ea typeface="Arial"/>
              <a:cs typeface="Arial"/>
              <a:sym typeface="Arial"/>
            </a:endParaRPr>
          </a:p>
          <a:p>
            <a:pPr indent="0" lvl="0" marL="0" rtl="0" algn="l">
              <a:lnSpc>
                <a:spcPct val="95000"/>
              </a:lnSpc>
              <a:spcBef>
                <a:spcPts val="1400"/>
              </a:spcBef>
              <a:spcAft>
                <a:spcPts val="0"/>
              </a:spcAft>
              <a:buSzPts val="935"/>
              <a:buNone/>
            </a:pPr>
            <a:r>
              <a:rPr b="1" lang="en" sz="1105">
                <a:solidFill>
                  <a:srgbClr val="000000"/>
                </a:solidFill>
                <a:latin typeface="Arial"/>
                <a:ea typeface="Arial"/>
                <a:cs typeface="Arial"/>
                <a:sym typeface="Arial"/>
              </a:rPr>
              <a:t>4. LLM Output</a:t>
            </a:r>
            <a:endParaRPr b="1" sz="1105">
              <a:solidFill>
                <a:srgbClr val="000000"/>
              </a:solidFill>
              <a:latin typeface="Arial"/>
              <a:ea typeface="Arial"/>
              <a:cs typeface="Arial"/>
              <a:sym typeface="Arial"/>
            </a:endParaRPr>
          </a:p>
          <a:p>
            <a:pPr indent="-287972" lvl="0" marL="457200" rtl="0" algn="l">
              <a:lnSpc>
                <a:spcPct val="95000"/>
              </a:lnSpc>
              <a:spcBef>
                <a:spcPts val="1200"/>
              </a:spcBef>
              <a:spcAft>
                <a:spcPts val="0"/>
              </a:spcAft>
              <a:buClr>
                <a:srgbClr val="000000"/>
              </a:buClr>
              <a:buSzPts val="935"/>
              <a:buFont typeface="Arial"/>
              <a:buChar char="●"/>
            </a:pPr>
            <a:r>
              <a:rPr lang="en" sz="935">
                <a:solidFill>
                  <a:srgbClr val="000000"/>
                </a:solidFill>
                <a:latin typeface="Arial"/>
                <a:ea typeface="Arial"/>
                <a:cs typeface="Arial"/>
                <a:sym typeface="Arial"/>
              </a:rPr>
              <a:t>Generates equivalent Java code:</a:t>
            </a:r>
            <a:br>
              <a:rPr lang="en" sz="935">
                <a:solidFill>
                  <a:srgbClr val="000000"/>
                </a:solidFill>
                <a:latin typeface="Arial"/>
                <a:ea typeface="Arial"/>
                <a:cs typeface="Arial"/>
                <a:sym typeface="Arial"/>
              </a:rPr>
            </a:br>
            <a:endParaRPr sz="935">
              <a:solidFill>
                <a:srgbClr val="000000"/>
              </a:solidFill>
              <a:latin typeface="Arial"/>
              <a:ea typeface="Arial"/>
              <a:cs typeface="Arial"/>
              <a:sym typeface="Arial"/>
            </a:endParaRPr>
          </a:p>
          <a:p>
            <a:pPr indent="-287972" lvl="1" marL="914400" rtl="0" algn="l">
              <a:lnSpc>
                <a:spcPct val="95000"/>
              </a:lnSpc>
              <a:spcBef>
                <a:spcPts val="0"/>
              </a:spcBef>
              <a:spcAft>
                <a:spcPts val="0"/>
              </a:spcAft>
              <a:buClr>
                <a:schemeClr val="dk2"/>
              </a:buClr>
              <a:buSzPts val="935"/>
              <a:buFont typeface="Arial"/>
              <a:buChar char="○"/>
            </a:pPr>
            <a:r>
              <a:rPr lang="en" sz="935">
                <a:solidFill>
                  <a:schemeClr val="dk2"/>
                </a:solidFill>
                <a:latin typeface="Roboto Mono"/>
                <a:ea typeface="Roboto Mono"/>
                <a:cs typeface="Roboto Mono"/>
                <a:sym typeface="Roboto Mono"/>
              </a:rPr>
              <a:t>@RestController</a:t>
            </a:r>
            <a:br>
              <a:rPr lang="en" sz="935">
                <a:solidFill>
                  <a:schemeClr val="dk2"/>
                </a:solidFill>
                <a:latin typeface="Roboto Mono"/>
                <a:ea typeface="Roboto Mono"/>
                <a:cs typeface="Roboto Mono"/>
                <a:sym typeface="Roboto Mono"/>
              </a:rPr>
            </a:br>
            <a:endParaRPr sz="935">
              <a:solidFill>
                <a:schemeClr val="dk2"/>
              </a:solidFill>
              <a:latin typeface="Roboto Mono"/>
              <a:ea typeface="Roboto Mono"/>
              <a:cs typeface="Roboto Mono"/>
              <a:sym typeface="Roboto Mono"/>
            </a:endParaRPr>
          </a:p>
          <a:p>
            <a:pPr indent="-287972" lvl="1" marL="914400" rtl="0" algn="l">
              <a:lnSpc>
                <a:spcPct val="95000"/>
              </a:lnSpc>
              <a:spcBef>
                <a:spcPts val="0"/>
              </a:spcBef>
              <a:spcAft>
                <a:spcPts val="0"/>
              </a:spcAft>
              <a:buClr>
                <a:schemeClr val="dk2"/>
              </a:buClr>
              <a:buSzPts val="935"/>
              <a:buFont typeface="Arial"/>
              <a:buChar char="○"/>
            </a:pPr>
            <a:r>
              <a:rPr lang="en" sz="935">
                <a:solidFill>
                  <a:schemeClr val="dk2"/>
                </a:solidFill>
                <a:latin typeface="Roboto Mono"/>
                <a:ea typeface="Roboto Mono"/>
                <a:cs typeface="Roboto Mono"/>
                <a:sym typeface="Roboto Mono"/>
              </a:rPr>
              <a:t>@Service</a:t>
            </a:r>
            <a:br>
              <a:rPr lang="en" sz="935">
                <a:solidFill>
                  <a:schemeClr val="dk2"/>
                </a:solidFill>
                <a:latin typeface="Roboto Mono"/>
                <a:ea typeface="Roboto Mono"/>
                <a:cs typeface="Roboto Mono"/>
                <a:sym typeface="Roboto Mono"/>
              </a:rPr>
            </a:br>
            <a:endParaRPr sz="935">
              <a:solidFill>
                <a:schemeClr val="dk2"/>
              </a:solidFill>
              <a:latin typeface="Roboto Mono"/>
              <a:ea typeface="Roboto Mono"/>
              <a:cs typeface="Roboto Mono"/>
              <a:sym typeface="Roboto Mono"/>
            </a:endParaRPr>
          </a:p>
          <a:p>
            <a:pPr indent="-287972" lvl="1" marL="914400" rtl="0" algn="l">
              <a:lnSpc>
                <a:spcPct val="95000"/>
              </a:lnSpc>
              <a:spcBef>
                <a:spcPts val="0"/>
              </a:spcBef>
              <a:spcAft>
                <a:spcPts val="0"/>
              </a:spcAft>
              <a:buClr>
                <a:schemeClr val="dk2"/>
              </a:buClr>
              <a:buSzPts val="935"/>
              <a:buFont typeface="Arial"/>
              <a:buChar char="○"/>
            </a:pPr>
            <a:r>
              <a:rPr lang="en" sz="935">
                <a:solidFill>
                  <a:schemeClr val="dk2"/>
                </a:solidFill>
                <a:latin typeface="Roboto Mono"/>
                <a:ea typeface="Roboto Mono"/>
                <a:cs typeface="Roboto Mono"/>
                <a:sym typeface="Roboto Mono"/>
              </a:rPr>
              <a:t>@Repository</a:t>
            </a:r>
            <a:br>
              <a:rPr lang="en" sz="935">
                <a:solidFill>
                  <a:schemeClr val="dk2"/>
                </a:solidFill>
                <a:latin typeface="Roboto Mono"/>
                <a:ea typeface="Roboto Mono"/>
                <a:cs typeface="Roboto Mono"/>
                <a:sym typeface="Roboto Mono"/>
              </a:rPr>
            </a:br>
            <a:endParaRPr sz="935">
              <a:solidFill>
                <a:schemeClr val="dk2"/>
              </a:solidFill>
              <a:latin typeface="Roboto Mono"/>
              <a:ea typeface="Roboto Mono"/>
              <a:cs typeface="Roboto Mono"/>
              <a:sym typeface="Roboto Mono"/>
            </a:endParaRPr>
          </a:p>
          <a:p>
            <a:pPr indent="-287972" lvl="1" marL="914400" rtl="0" algn="l">
              <a:lnSpc>
                <a:spcPct val="95000"/>
              </a:lnSpc>
              <a:spcBef>
                <a:spcPts val="0"/>
              </a:spcBef>
              <a:spcAft>
                <a:spcPts val="0"/>
              </a:spcAft>
              <a:buClr>
                <a:schemeClr val="dk2"/>
              </a:buClr>
              <a:buSzPts val="935"/>
              <a:buFont typeface="Arial"/>
              <a:buChar char="○"/>
            </a:pPr>
            <a:r>
              <a:rPr lang="en" sz="935">
                <a:solidFill>
                  <a:schemeClr val="dk2"/>
                </a:solidFill>
                <a:latin typeface="Roboto Mono"/>
                <a:ea typeface="Roboto Mono"/>
                <a:cs typeface="Roboto Mono"/>
                <a:sym typeface="Roboto Mono"/>
              </a:rPr>
              <a:t>@Entity</a:t>
            </a:r>
            <a:r>
              <a:rPr lang="en" sz="935">
                <a:solidFill>
                  <a:schemeClr val="dk2"/>
                </a:solidFill>
                <a:latin typeface="Arial"/>
                <a:ea typeface="Arial"/>
                <a:cs typeface="Arial"/>
                <a:sym typeface="Arial"/>
              </a:rPr>
              <a:t> with JPA annotations</a:t>
            </a:r>
            <a:endParaRPr sz="935">
              <a:solidFill>
                <a:schemeClr val="dk2"/>
              </a:solidFill>
            </a:endParaRPr>
          </a:p>
        </p:txBody>
      </p:sp>
      <p:sp>
        <p:nvSpPr>
          <p:cNvPr id="125" name="Google Shape;125;p19"/>
          <p:cNvSpPr txBox="1"/>
          <p:nvPr/>
        </p:nvSpPr>
        <p:spPr>
          <a:xfrm>
            <a:off x="4797900" y="1368900"/>
            <a:ext cx="3850800" cy="2285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300"/>
              <a:t>5. Saving Converted Files</a:t>
            </a:r>
            <a:endParaRPr b="1" sz="1300"/>
          </a:p>
          <a:p>
            <a:pPr indent="-298450" lvl="0" marL="457200" rtl="0" algn="l">
              <a:lnSpc>
                <a:spcPct val="115000"/>
              </a:lnSpc>
              <a:spcBef>
                <a:spcPts val="1200"/>
              </a:spcBef>
              <a:spcAft>
                <a:spcPts val="0"/>
              </a:spcAft>
              <a:buClr>
                <a:schemeClr val="dk2"/>
              </a:buClr>
              <a:buSzPts val="1100"/>
              <a:buChar char="●"/>
            </a:pPr>
            <a:r>
              <a:rPr lang="en" sz="1100">
                <a:solidFill>
                  <a:schemeClr val="dk2"/>
                </a:solidFill>
              </a:rPr>
              <a:t>Organize output into Spring Boot folder structure:</a:t>
            </a:r>
            <a:br>
              <a:rPr lang="en" sz="1100">
                <a:solidFill>
                  <a:schemeClr val="dk2"/>
                </a:solidFill>
              </a:rPr>
            </a:br>
            <a:r>
              <a:rPr lang="en" sz="1100">
                <a:solidFill>
                  <a:schemeClr val="dk2"/>
                </a:solidFill>
              </a:rPr>
              <a:t> </a:t>
            </a:r>
            <a:r>
              <a:rPr lang="en" sz="1100">
                <a:solidFill>
                  <a:schemeClr val="dk2"/>
                </a:solidFill>
                <a:latin typeface="Roboto Mono"/>
                <a:ea typeface="Roboto Mono"/>
                <a:cs typeface="Roboto Mono"/>
                <a:sym typeface="Roboto Mono"/>
              </a:rPr>
              <a:t>/controller</a:t>
            </a:r>
            <a:br>
              <a:rPr lang="en" sz="1100">
                <a:solidFill>
                  <a:schemeClr val="dk2"/>
                </a:solidFill>
                <a:latin typeface="Roboto Mono"/>
                <a:ea typeface="Roboto Mono"/>
                <a:cs typeface="Roboto Mono"/>
                <a:sym typeface="Roboto Mono"/>
              </a:rPr>
            </a:br>
            <a:r>
              <a:rPr lang="en" sz="1100">
                <a:solidFill>
                  <a:schemeClr val="dk2"/>
                </a:solidFill>
              </a:rPr>
              <a:t> </a:t>
            </a:r>
            <a:r>
              <a:rPr lang="en" sz="1100">
                <a:solidFill>
                  <a:schemeClr val="dk2"/>
                </a:solidFill>
                <a:latin typeface="Roboto Mono"/>
                <a:ea typeface="Roboto Mono"/>
                <a:cs typeface="Roboto Mono"/>
                <a:sym typeface="Roboto Mono"/>
              </a:rPr>
              <a:t>/service</a:t>
            </a:r>
            <a:br>
              <a:rPr lang="en" sz="1100">
                <a:solidFill>
                  <a:schemeClr val="dk2"/>
                </a:solidFill>
                <a:latin typeface="Roboto Mono"/>
                <a:ea typeface="Roboto Mono"/>
                <a:cs typeface="Roboto Mono"/>
                <a:sym typeface="Roboto Mono"/>
              </a:rPr>
            </a:br>
            <a:r>
              <a:rPr lang="en" sz="1100">
                <a:solidFill>
                  <a:schemeClr val="dk2"/>
                </a:solidFill>
              </a:rPr>
              <a:t> </a:t>
            </a:r>
            <a:r>
              <a:rPr lang="en" sz="1100">
                <a:solidFill>
                  <a:schemeClr val="dk2"/>
                </a:solidFill>
                <a:latin typeface="Roboto Mono"/>
                <a:ea typeface="Roboto Mono"/>
                <a:cs typeface="Roboto Mono"/>
                <a:sym typeface="Roboto Mono"/>
              </a:rPr>
              <a:t>/repository</a:t>
            </a:r>
            <a:br>
              <a:rPr lang="en" sz="1100">
                <a:solidFill>
                  <a:schemeClr val="dk2"/>
                </a:solidFill>
                <a:latin typeface="Roboto Mono"/>
                <a:ea typeface="Roboto Mono"/>
                <a:cs typeface="Roboto Mono"/>
                <a:sym typeface="Roboto Mono"/>
              </a:rPr>
            </a:br>
            <a:r>
              <a:rPr lang="en" sz="1100">
                <a:solidFill>
                  <a:schemeClr val="dk2"/>
                </a:solidFill>
              </a:rPr>
              <a:t> </a:t>
            </a:r>
            <a:r>
              <a:rPr lang="en" sz="1100">
                <a:solidFill>
                  <a:schemeClr val="dk2"/>
                </a:solidFill>
                <a:latin typeface="Roboto Mono"/>
                <a:ea typeface="Roboto Mono"/>
                <a:cs typeface="Roboto Mono"/>
                <a:sym typeface="Roboto Mono"/>
              </a:rPr>
              <a:t>/entity</a:t>
            </a:r>
            <a:br>
              <a:rPr lang="en" sz="1100">
                <a:solidFill>
                  <a:schemeClr val="dk2"/>
                </a:solidFill>
                <a:latin typeface="Roboto Mono"/>
                <a:ea typeface="Roboto Mono"/>
                <a:cs typeface="Roboto Mono"/>
                <a:sym typeface="Roboto Mono"/>
              </a:rPr>
            </a:br>
            <a:r>
              <a:rPr lang="en" sz="1100">
                <a:solidFill>
                  <a:schemeClr val="dk2"/>
                </a:solidFill>
              </a:rPr>
              <a:t> </a:t>
            </a:r>
            <a:r>
              <a:rPr lang="en" sz="1100">
                <a:solidFill>
                  <a:schemeClr val="dk2"/>
                </a:solidFill>
                <a:latin typeface="Roboto Mono"/>
                <a:ea typeface="Roboto Mono"/>
                <a:cs typeface="Roboto Mono"/>
                <a:sym typeface="Roboto Mono"/>
              </a:rPr>
              <a:t>/dto</a:t>
            </a:r>
            <a:br>
              <a:rPr lang="en" sz="1100">
                <a:solidFill>
                  <a:schemeClr val="dk2"/>
                </a:solidFill>
                <a:latin typeface="Roboto Mono"/>
                <a:ea typeface="Roboto Mono"/>
                <a:cs typeface="Roboto Mono"/>
                <a:sym typeface="Roboto Mono"/>
              </a:rPr>
            </a:br>
            <a:endParaRPr sz="1100">
              <a:solidFill>
                <a:schemeClr val="dk2"/>
              </a:solidFill>
              <a:latin typeface="Roboto Mono"/>
              <a:ea typeface="Roboto Mono"/>
              <a:cs typeface="Roboto Mono"/>
              <a:sym typeface="Roboto Mono"/>
            </a:endParaRPr>
          </a:p>
          <a:p>
            <a:pPr indent="0" lvl="0" marL="0" rtl="0" algn="l">
              <a:spcBef>
                <a:spcPts val="1200"/>
              </a:spcBef>
              <a:spcAft>
                <a:spcPts val="0"/>
              </a:spcAft>
              <a:buNone/>
            </a:pPr>
            <a:r>
              <a:t/>
            </a:r>
            <a:endParaRPr sz="1300">
              <a:solidFill>
                <a:schemeClr val="accent1"/>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a:t>
            </a:r>
            <a:endParaRPr/>
          </a:p>
        </p:txBody>
      </p:sp>
      <p:sp>
        <p:nvSpPr>
          <p:cNvPr id="131" name="Google Shape;131;p2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lnSpcReduction="10000"/>
          </a:bodyPr>
          <a:lstStyle/>
          <a:p>
            <a:pPr indent="0" lvl="0" marL="0" rtl="0" algn="just">
              <a:spcBef>
                <a:spcPts val="0"/>
              </a:spcBef>
              <a:spcAft>
                <a:spcPts val="0"/>
              </a:spcAft>
              <a:buNone/>
            </a:pPr>
            <a:r>
              <a:rPr lang="en" sz="1500">
                <a:solidFill>
                  <a:srgbClr val="000000"/>
                </a:solidFill>
                <a:latin typeface="Arial"/>
                <a:ea typeface="Arial"/>
                <a:cs typeface="Arial"/>
                <a:sym typeface="Arial"/>
              </a:rPr>
              <a:t>This case study demonstrates how LLMs can automate cross-platform code migration from .NET Core to Java Spring Boot efficiently. By converting each component (controllers, services, repositories, models) through file-specific prompts, LLMs reduce manual rewriting effort.The workflow ensures structured, accurate, and consistent Spring Boot code generation. Although human review is still needed, LLM assistance significantly speeds up migration and improves productivity. This project highlights the practical use of Generative AI in real-world software modernization.</a:t>
            </a:r>
            <a:endParaRPr sz="15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1"/>
          <p:cNvSpPr txBox="1"/>
          <p:nvPr>
            <p:ph type="title"/>
          </p:nvPr>
        </p:nvSpPr>
        <p:spPr>
          <a:xfrm>
            <a:off x="729450" y="1318650"/>
            <a:ext cx="1510200" cy="521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Output 2</a:t>
            </a:r>
            <a:endParaRPr/>
          </a:p>
        </p:txBody>
      </p:sp>
      <p:pic>
        <p:nvPicPr>
          <p:cNvPr id="137" name="Google Shape;137;p21"/>
          <p:cNvPicPr preferRelativeResize="0"/>
          <p:nvPr/>
        </p:nvPicPr>
        <p:blipFill>
          <a:blip r:embed="rId3">
            <a:alphaModFix/>
          </a:blip>
          <a:stretch>
            <a:fillRect/>
          </a:stretch>
        </p:blipFill>
        <p:spPr>
          <a:xfrm>
            <a:off x="2418975" y="1741225"/>
            <a:ext cx="6599551" cy="328086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pic>
        <p:nvPicPr>
          <p:cNvPr id="142" name="Google Shape;142;p22"/>
          <p:cNvPicPr preferRelativeResize="0"/>
          <p:nvPr/>
        </p:nvPicPr>
        <p:blipFill>
          <a:blip r:embed="rId3">
            <a:alphaModFix/>
          </a:blip>
          <a:stretch>
            <a:fillRect/>
          </a:stretch>
        </p:blipFill>
        <p:spPr>
          <a:xfrm>
            <a:off x="1902975" y="724150"/>
            <a:ext cx="8057899" cy="45497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pic>
        <p:nvPicPr>
          <p:cNvPr id="147" name="Google Shape;147;p23"/>
          <p:cNvPicPr preferRelativeResize="0"/>
          <p:nvPr/>
        </p:nvPicPr>
        <p:blipFill>
          <a:blip r:embed="rId3">
            <a:alphaModFix/>
          </a:blip>
          <a:stretch>
            <a:fillRect/>
          </a:stretch>
        </p:blipFill>
        <p:spPr>
          <a:xfrm>
            <a:off x="1381950" y="1452975"/>
            <a:ext cx="6589742" cy="29848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